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大师</c:v>
                </c:pt>
              </c:strCache>
            </c:strRef>
          </c:tx>
          <c:spPr>
            <a:solidFill>
              <a:srgbClr val="1271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2E29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真实对局棋盘</c:v>
                  </c:pt>
                  <c:pt idx="1">
                    <c:v>随机摆放棋盘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</c:v>
                </c:pt>
                <c:pt idx="1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新手</c:v>
                </c:pt>
              </c:strCache>
            </c:strRef>
          </c:tx>
          <c:spPr>
            <a:solidFill>
              <a:srgbClr val="A8CF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2E29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真实对局棋盘</c:v>
                  </c:pt>
                  <c:pt idx="1">
                    <c:v>随机摆放棋盘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</c:v>
                </c:pt>
                <c:pt idx="1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A2E29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7B75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</c:scaling>
        <c:delete val="0"/>
        <c:axPos val="l"/>
        <c:majorGridlines>
          <c:spPr>
            <a:ln w="6350" cap="flat">
              <a:solidFill>
                <a:srgbClr val="E3EB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B75"/>
                </a:solidFill>
                <a:latin typeface="微软雅黑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67B75"/>
              </a:solidFill>
              <a:latin typeface="微软雅黑"/>
              <a:cs typeface="微软雅黑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相对回忆量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FB8B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4D2C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听前先给语境
（这是在讲洗衣服）</c:v>
                  </c:pt>
                  <c:pt idx="1">
                    <c:v>听完才给语境</c:v>
                  </c:pt>
                  <c:pt idx="2">
                    <c:v>完全不给语境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38</c:v>
                </c:pt>
                <c:pt idx="2">
                  <c:v>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B75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学 4 遍（不测）</c:v>
                </c:pt>
              </c:strCache>
            </c:strRef>
          </c:tx>
          <c:spPr>
            <a:solidFill>
              <a:srgbClr val="A8CFC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2E29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5 分钟后测</c:v>
                  </c:pt>
                  <c:pt idx="1">
                    <c:v>一周后测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83</c:v>
                </c:pt>
                <c:pt idx="1">
                  <c:v>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学 1 遍 + 自测 3 遍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2E29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5 分钟后测</c:v>
                  </c:pt>
                  <c:pt idx="1">
                    <c:v>一周后测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71</c:v>
                </c:pt>
                <c:pt idx="1">
                  <c:v>56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A2E29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7B75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3EB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B75"/>
                </a:solidFill>
                <a:latin typeface="微软雅黑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67B75"/>
              </a:solidFill>
              <a:latin typeface="微软雅黑"/>
              <a:cs typeface="微软雅黑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集中学习（一次学完）</c:v>
                </c:pt>
              </c:strCache>
            </c:strRef>
          </c:tx>
          <c:spPr>
            <a:solidFill>
              <a:srgbClr val="9FB8B1"/>
            </a:solidFill>
            <a:ln w="31750" cap="flat">
              <a:solidFill>
                <a:srgbClr val="9FB8B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FB8B1"/>
              </a:solidFill>
              <a:ln w="9525" cap="flat">
                <a:solidFill>
                  <a:srgbClr val="9FB8B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学完当天</c:v>
                  </c:pt>
                  <c:pt idx="1">
                    <c:v>1 天</c:v>
                  </c:pt>
                  <c:pt idx="2">
                    <c:v>1 周</c:v>
                  </c:pt>
                  <c:pt idx="3">
                    <c:v>1 月</c:v>
                  </c:pt>
                  <c:pt idx="4">
                    <c:v>3 月</c:v>
                  </c:pt>
                  <c:pt idx="5">
                    <c:v>1 年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40</c:v>
                </c:pt>
                <c:pt idx="2">
                  <c:v>22</c:v>
                </c:pt>
                <c:pt idx="3">
                  <c:v>14</c:v>
                </c:pt>
                <c:pt idx="4">
                  <c:v>9</c:v>
                </c:pt>
                <c:pt idx="5">
                  <c:v>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按最优间隔复习</c:v>
                </c:pt>
              </c:strCache>
            </c:strRef>
          </c:tx>
          <c:spPr>
            <a:solidFill>
              <a:srgbClr val="12715F"/>
            </a:solidFill>
            <a:ln w="31750" cap="flat">
              <a:solidFill>
                <a:srgbClr val="1271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2715F"/>
              </a:solidFill>
              <a:ln w="9525" cap="flat">
                <a:solidFill>
                  <a:srgbClr val="1271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学完当天</c:v>
                  </c:pt>
                  <c:pt idx="1">
                    <c:v>1 天</c:v>
                  </c:pt>
                  <c:pt idx="2">
                    <c:v>1 周</c:v>
                  </c:pt>
                  <c:pt idx="3">
                    <c:v>1 月</c:v>
                  </c:pt>
                  <c:pt idx="4">
                    <c:v>3 月</c:v>
                  </c:pt>
                  <c:pt idx="5">
                    <c:v>1 年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92</c:v>
                </c:pt>
                <c:pt idx="2">
                  <c:v>86</c:v>
                </c:pt>
                <c:pt idx="3">
                  <c:v>80</c:v>
                </c:pt>
                <c:pt idx="4">
                  <c:v>72</c:v>
                </c:pt>
                <c:pt idx="5">
                  <c:v>64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B75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EB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B75"/>
                </a:solidFill>
                <a:latin typeface="微软雅黑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67B75"/>
              </a:solidFill>
              <a:latin typeface="微软雅黑"/>
              <a:cs typeface="微软雅黑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认知科学研究综述 · 12 篇核心论文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112745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600"/>
              </a:lnSpc>
              <a:buNone/>
            </a:pPr>
            <a:r>
              <a:rPr lang="en-US" sz="5200" b="1" dirty="0">
                <a:solidFill>
                  <a:srgbClr val="F2F7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拉开差距的</a:t>
            </a:r>
            <a:endParaRPr lang="en-US" sz="5200" dirty="0"/>
          </a:p>
          <a:p>
            <a:pPr indent="0" marL="0">
              <a:lnSpc>
                <a:spcPts val="6600"/>
              </a:lnSpc>
              <a:buNone/>
            </a:pPr>
            <a:r>
              <a:rPr lang="en-US" sz="5200" b="1" dirty="0">
                <a:solidFill>
                  <a:srgbClr val="F2F7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从来不是记忆力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DB8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怎样最快掌握一门知识、记住任何东西 —— 用实验证据回答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663440"/>
            <a:ext cx="3639312" cy="841248"/>
          </a:xfrm>
          <a:prstGeom prst="roundRect">
            <a:avLst>
              <a:gd name="adj" fmla="val 7609"/>
            </a:avLst>
          </a:prstGeom>
          <a:solidFill>
            <a:srgbClr val="12463C"/>
          </a:solidFill>
          <a:ln/>
          <a:effectLst>
            <a:outerShdw sx="100000" sy="100000" kx="0" ky="0" algn="bl" rotWithShape="0" blurRad="88900" dist="25400" dir="3600000">
              <a:srgbClr val="0A2C25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4663440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4663440"/>
            <a:ext cx="2697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7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你的两个直觉，实验怎么说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70832" y="4663440"/>
            <a:ext cx="3639312" cy="841248"/>
          </a:xfrm>
          <a:prstGeom prst="roundRect">
            <a:avLst>
              <a:gd name="adj" fmla="val 7609"/>
            </a:avLst>
          </a:prstGeom>
          <a:solidFill>
            <a:srgbClr val="12463C"/>
          </a:solidFill>
          <a:ln/>
          <a:effectLst>
            <a:outerShdw sx="100000" sy="100000" kx="0" ky="0" algn="bl" rotWithShape="0" blurRad="88900" dist="25400" dir="3600000">
              <a:srgbClr val="0A2C25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99432" y="4663440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39512" y="4663440"/>
            <a:ext cx="2697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7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方法排行榜：哪些真的有效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84464" y="4663440"/>
            <a:ext cx="3639312" cy="841248"/>
          </a:xfrm>
          <a:prstGeom prst="roundRect">
            <a:avLst>
              <a:gd name="adj" fmla="val 7609"/>
            </a:avLst>
          </a:prstGeom>
          <a:solidFill>
            <a:srgbClr val="12463C"/>
          </a:solidFill>
          <a:ln/>
          <a:effectLst>
            <a:outerShdw sx="100000" sy="100000" kx="0" ky="0" algn="bl" rotWithShape="0" blurRad="88900" dist="25400" dir="3600000">
              <a:srgbClr val="0A2C25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513064" y="4663440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153144" y="4663440"/>
            <a:ext cx="2697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7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一套拿走就用的流程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59893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8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这份文件本身，就在用它讲的方法：先框架 · 图形优先 · 结尾自测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71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全景图 · 为什么先看这张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三步走：直觉 → 证据 → 用法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EEF6F3"/>
          </a:solidFill>
          <a:ln/>
          <a:effectLst>
            <a:outerShdw sx="100000" sy="100000" kx="0" ky="0" algn="bl" rotWithShape="0" blurRad="88900" dist="25400" dir="3600000">
              <a:srgbClr val="0A2C25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202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直觉 · 你说对了吗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棋手赢的不是记忆力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信息的排布方式决定记忆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977640" y="2880360"/>
            <a:ext cx="420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E8E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398264" y="169164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EEF6F3"/>
          </a:solidFill>
          <a:ln/>
          <a:effectLst>
            <a:outerShdw sx="100000" sy="100000" kx="0" ky="0" algn="bl" rotWithShape="0" blurRad="88900" dist="25400" dir="3600000">
              <a:srgbClr val="0A2C25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72584" y="19202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71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72584" y="2606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 · 方法排行榜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72584" y="31089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种方法，只有 2 种最高效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提取练习 · 间隔 · 交错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918704" y="2880360"/>
            <a:ext cx="420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E8E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339328" y="169164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EEF6F3"/>
          </a:solidFill>
          <a:ln/>
          <a:effectLst>
            <a:outerShdw sx="100000" sy="100000" kx="0" ky="0" algn="bl" rotWithShape="0" blurRad="88900" dist="25400" dir="3600000">
              <a:srgbClr val="0A2C25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13648" y="19202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71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613648" y="2606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用法 · 整合流程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13648" y="31089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学任何东西的 5 步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记名字 · 记清单 · 睡眠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0" y="4983480"/>
            <a:ext cx="12188952" cy="1051560"/>
          </a:xfrm>
          <a:prstGeom prst="rect">
            <a:avLst/>
          </a:prstGeom>
          <a:solidFill>
            <a:srgbClr val="D9EBE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983480"/>
            <a:ext cx="112745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71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为什么先给这张图？  </a:t>
            </a:r>
            <a:r>
              <a:rPr lang="en-US" sz="1500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同一篇文字，先给「语境/标题」的人回忆量是后给者的数倍——先有框架，后面的每一页才有地方挂。这张图就是那个「标题」。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1908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Bransford &amp; Johnson (1972), Journal of Verbal Learning and Verbal Behavior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71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 · 你说对了一半：棋手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大师记的不是棋子，是棋谱</a:t>
            </a:r>
            <a:endParaRPr lang="en-US" sz="3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45920"/>
          <a:ext cx="576072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5321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 5 秒后能复盘的棋子数（约值，实验量级示意）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629400" y="169164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≈50,000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629400" y="260604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大师级棋手脑中预存的棋局「组块」数（估算）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29400" y="320040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棋盘一随机，大师的优势几乎消失——和普通人一样记不住。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629400" y="4023360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差距不在大脑「内存」，而在预装的模式库：专家用长期记忆里的组块当外挂内存，一眼看出去是几十个「块」，而不是几十颗棋子（长时工作记忆理论）。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57200" y="641908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Chase &amp; Simon (1973), Cognitive Psychology · Ericsson &amp; Kintsch (1995), Psychological Review · Gobet (1998)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71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 · 你说对的另一半：排布方式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同一篇文章，只差一个「标题」</a:t>
            </a:r>
            <a:endParaRPr lang="en-US" sz="3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91640"/>
          <a:ext cx="56692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34924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相对回忆量（示意比例）：实验中「先给语境」组约为其他组的 2 倍以上；不给语境的人把文章读两遍也没用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537960" y="1783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71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怎么用 ①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37960" y="211226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读书先花 10 分钟看目录和章节标题，再读正文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537960" y="2825496"/>
            <a:ext cx="5120640" cy="0"/>
          </a:xfrm>
          <a:prstGeom prst="line">
            <a:avLst/>
          </a:prstGeom>
          <a:noFill/>
          <a:ln w="9525">
            <a:solidFill>
              <a:srgbClr val="DCE7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37960" y="29900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71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怎么用 ②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37960" y="331927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听讲座前先拿到讲义大纲；没有就先问「今天讲什么」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37960" y="4032504"/>
            <a:ext cx="5120640" cy="0"/>
          </a:xfrm>
          <a:prstGeom prst="line">
            <a:avLst/>
          </a:prstGeom>
          <a:noFill/>
          <a:ln w="9525">
            <a:solidFill>
              <a:srgbClr val="DCE7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419709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71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怎么用 ③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37960" y="45262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读不进去时，先自问「这段在整体里的位置是什么」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537960" y="54864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信息一字不差，排布顺序不同，记忆量天差地别——先给框架，细节才有地方挂。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7200" y="641908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Bransford &amp; Johnson (1972), Journal of Verbal Learning and Verbal Behavior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3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核心结论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2F7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差距来自两样东西，而它们都可以练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5413248" cy="2834640"/>
          </a:xfrm>
          <a:prstGeom prst="roundRect">
            <a:avLst>
              <a:gd name="adj" fmla="val 2581"/>
            </a:avLst>
          </a:prstGeom>
          <a:solidFill>
            <a:srgbClr val="12463C"/>
          </a:solidFill>
          <a:ln/>
          <a:effectLst>
            <a:outerShdw sx="100000" sy="100000" kx="0" ky="0" algn="bl" rotWithShape="0" blurRad="88900" dist="25400" dir="3600000">
              <a:srgbClr val="0A2C25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94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 组块库（结构）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2F7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脑子里预装的框架、模式、棋谱。决定新信息能被「挂」上去多快。方法：先搭地图——看目录、大纲、综述，人人可做。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27648" y="1874520"/>
            <a:ext cx="5413248" cy="2834640"/>
          </a:xfrm>
          <a:prstGeom prst="roundRect">
            <a:avLst>
              <a:gd name="adj" fmla="val 2581"/>
            </a:avLst>
          </a:prstGeom>
          <a:solidFill>
            <a:srgbClr val="12463C"/>
          </a:solidFill>
          <a:ln/>
          <a:effectLst>
            <a:outerShdw sx="100000" sy="100000" kx="0" ky="0" algn="bl" rotWithShape="0" blurRad="88900" dist="25400" dir="3600000">
              <a:srgbClr val="0A2C25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93408" y="2194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 提取方式（练习）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693408" y="278892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2F7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学完之后怎么练：测试、间隔、交错。决定最终留下多少。方法：合书默写、按 10–20% 规则复习、题目混着做。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521208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8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至于「记忆力」本身？</a:t>
            </a:r>
            <a:r>
              <a:rPr lang="en-US" sz="15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40 小时</a:t>
            </a:r>
            <a:r>
              <a:rPr lang="en-US" sz="1500" dirty="0">
                <a:solidFill>
                  <a:srgbClr val="9DB8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训练就能把普通人练到记忆运动员水平——见第 10 页。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71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证据总览 · 10 种常用方法的系统评估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只有两种方法，拿到「高效用」评级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0" y="1600200"/>
            <a:ext cx="12188952" cy="1371600"/>
          </a:xfrm>
          <a:prstGeom prst="rect">
            <a:avLst/>
          </a:prstGeom>
          <a:solidFill>
            <a:srgbClr val="12715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002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高效用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2514600" y="160020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练习测试（合书默写、自测、回想）　·　间隔重复（分散复习）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0" y="3154680"/>
            <a:ext cx="12188952" cy="1143000"/>
          </a:xfrm>
          <a:prstGeom prst="rect">
            <a:avLst/>
          </a:prstGeom>
          <a:solidFill>
            <a:srgbClr val="EEF6F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15468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71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中等效用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514600" y="3154680"/>
            <a:ext cx="914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交错练习　·　自我解释　·　精细追问（多问「为什么」）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0" y="4480560"/>
            <a:ext cx="12188952" cy="1143000"/>
          </a:xfrm>
          <a:prstGeom prst="rect">
            <a:avLst/>
          </a:prstGeom>
          <a:solidFill>
            <a:srgbClr val="F3F5F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48056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71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低效用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514600" y="4480560"/>
            <a:ext cx="914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重读　·　划线　·　做摘要　·　关键词记忆术　·　意象阅读法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57200" y="58064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「低效用」不是零作用，而是收益小，且最容易制造「我已经学过了」的错觉。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41908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Dunlosky, Rawson, Marsh, Nathan &amp; Willingham (2013), Psychological Science in the Public Interest 14(1)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71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 ① · 单项效应最大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合上书回忆，胜过重读四遍</a:t>
            </a:r>
            <a:endParaRPr lang="en-US" sz="3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91640"/>
          <a:ext cx="566928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4864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学一篇短文后自由回忆的正确率（约值）：短期重读占优、长期自测反超——这正是错觉的来源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537960" y="16916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271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 ≈ 0.61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537960" y="2560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272 项研究的元分析：测试 vs 重读，属大效应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37960" y="31546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271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反直觉　</a:t>
            </a:r>
            <a:r>
              <a:rPr lang="en-US" sz="1450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分钟后测，重读组反而分高——所以大家坚信重读有用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537960" y="4023360"/>
            <a:ext cx="5120640" cy="0"/>
          </a:xfrm>
          <a:prstGeom prst="line">
            <a:avLst/>
          </a:prstGeom>
          <a:noFill/>
          <a:ln w="9525">
            <a:solidFill>
              <a:srgbClr val="DCE7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37960" y="417880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271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更强的证据　</a:t>
            </a:r>
            <a:r>
              <a:rPr lang="en-US" sz="1450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自由回忆式自测甚至胜过画概念图（Science, 2011）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37960" y="5047488"/>
            <a:ext cx="5120640" cy="0"/>
          </a:xfrm>
          <a:prstGeom prst="line">
            <a:avLst/>
          </a:prstGeom>
          <a:noFill/>
          <a:ln w="9525">
            <a:solidFill>
              <a:srgbClr val="DCE7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5202936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271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关键动作　</a:t>
            </a:r>
            <a:r>
              <a:rPr lang="en-US" sz="1450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读完一节 → 合书 → 白纸默写 → 翻开核对补漏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57200" y="641908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Roediger &amp; Karpicke (2006), Psychological Science · Adesope et al. (2017), Educational Psychology Review · Karpicke &amp; Blunt (2011), Science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71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 ② · 时间上的排布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复习间隔 ≈ 保留期的 10–20%</a:t>
            </a:r>
            <a:endParaRPr lang="en-US" sz="3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91640"/>
          <a:ext cx="56692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4406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遗忘曲线示意（方向依据间隔效应研究，非精确数据）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537960" y="16459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10–20%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537960" y="2514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最优复习间隔 ÷ 你要记住的时长（Cepeda 元分析规则）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37960" y="30632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一周后要用　</a:t>
            </a:r>
            <a:r>
              <a:rPr lang="en-US" sz="155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　隔 1 天复习一次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537960" y="3630168"/>
            <a:ext cx="5120640" cy="0"/>
          </a:xfrm>
          <a:prstGeom prst="line">
            <a:avLst/>
          </a:prstGeom>
          <a:noFill/>
          <a:ln w="9525">
            <a:solidFill>
              <a:srgbClr val="DCE7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37960" y="377647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一月后要用　</a:t>
            </a:r>
            <a:r>
              <a:rPr lang="en-US" sz="155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　隔 3 天左右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537960" y="4343400"/>
            <a:ext cx="5120640" cy="0"/>
          </a:xfrm>
          <a:prstGeom prst="line">
            <a:avLst/>
          </a:prstGeom>
          <a:noFill/>
          <a:ln w="9525">
            <a:solidFill>
              <a:srgbClr val="DCE7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448970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一年后还要会　</a:t>
            </a:r>
            <a:r>
              <a:rPr lang="en-US" sz="155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　每 1–2 个月一次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537960" y="53492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选对间隔，最终回忆率最多提升约 150%。Anki 已内置此算法，直接用。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57200" y="641908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Cepeda et al. (2006), Psychological Bulletin · Cepeda et al. (2008) 优化间隔研究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71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 ③ · 真实课堂随机对照试验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同一批题，混着做 72%，分块做 38%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72%</a:t>
            </a:r>
            <a:endParaRPr lang="en-US" sz="92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交错练习（混着做）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349240" y="2331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9C6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949440" y="182880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B9C6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38%</a:t>
            </a:r>
            <a:endParaRPr lang="en-US" sz="9200" dirty="0"/>
          </a:p>
        </p:txBody>
      </p:sp>
      <p:sp>
        <p:nvSpPr>
          <p:cNvPr id="8" name="Text 6"/>
          <p:cNvSpPr/>
          <p:nvPr/>
        </p:nvSpPr>
        <p:spPr>
          <a:xfrm>
            <a:off x="6949440" y="3429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分块练习（一类刷完再换）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71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分块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54480" y="41148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A A　·　B B B　·　C C 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0" y="411480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题目替你决定了「用哪个解法」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57200" y="4892040"/>
            <a:ext cx="11274552" cy="0"/>
          </a:xfrm>
          <a:prstGeom prst="line">
            <a:avLst/>
          </a:prstGeom>
          <a:noFill/>
          <a:ln w="9525">
            <a:solidFill>
              <a:srgbClr val="DCE7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5010912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71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交错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501091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C B　·　C A B　·　B C 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20640" y="5010912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逼你先判断「这是哪类题」——考试考的正是这一步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41908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Rohrer, Dedrick &amp; Stershic (2015), Journal of Educational Psychology —— 7 年级数学全年真实课堂 RCT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71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 ④ · 记忆是技能，不是天赋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40 小时，普通人练成「记忆运动员」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271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40 小时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「记忆宫殿」训练 40 小时后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普通人的记忆成绩达到世界顶级记忆选手水平，脑扫描显示他们的脑网络连接也变得和选手相似。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「我记性不好」这个借口，被这个实验直接否定了。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0" y="178308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EEF6F3"/>
          </a:solidFill>
          <a:ln/>
          <a:effectLst>
            <a:outerShdw sx="100000" sy="100000" kx="0" ky="0" algn="bl" rotWithShape="0" blurRad="88900" dist="25400" dir="3600000">
              <a:srgbClr val="0A2C25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0" y="2057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记忆宫殿 · 三步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66560" y="265176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0" y="26517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选一条烂熟的路线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比如回家的路，固定 10 个「站点」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66560" y="36576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315200" y="36576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每站放一个夸张图像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要记的东西转成画面，越荒诞越好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66560" y="46634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315200" y="46634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沿路在脑中走一遍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走一遍＝复习一遍，随时可提取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66560" y="5257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适用：清单、数字、演讲要点等「天生没结构」的信息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1908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Dresler et al. (2017), Neuron 93(5): Mnemonic Training Reshapes Brain Networks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71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用法 · 分场景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场景工具箱：名字 · 清单 · 睡眠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D9EBE6"/>
          </a:solidFill>
          <a:ln/>
          <a:effectLst>
            <a:outerShdw sx="100000" sy="100000" kx="0" ky="0" algn="bl" rotWithShape="0" blurRad="88900" dist="25400" dir="3600000">
              <a:srgbClr val="0A2C25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965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71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记名字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256032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三步：找脸上的显著特征 → 名字转具体图像（「张伟」→一面伟大的旗）→ 图像和特征绑成一幅互动画面。对话里主动叫对方名字，就是当场提取。具体图像明显优于抽象词。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98264" y="169164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EEF6F3"/>
          </a:solidFill>
          <a:ln/>
          <a:effectLst>
            <a:outerShdw sx="100000" sy="100000" kx="0" ky="0" algn="bl" rotWithShape="0" blurRad="88900" dist="25400" dir="3600000">
              <a:srgbClr val="0A2C25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90872" y="1965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8E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记任意信息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90872" y="256032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没结构的信息先「造结构」：记忆宫殿负责放，Anki 负责按 10–20% 规则复习。清单、数字、术语、外语词，全部适用。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339328" y="169164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8F0E1"/>
          </a:solidFill>
          <a:ln/>
          <a:effectLst>
            <a:outerShdw sx="100000" sy="100000" kx="0" ky="0" algn="bl" rotWithShape="0" blurRad="88900" dist="25400" dir="3600000">
              <a:srgbClr val="0A2C25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31936" y="1965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64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睡好觉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31936" y="256032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学前睡＝保证编码容量；学后睡＝完成巩固。学完当天睡好，约等于免费复习一次。熬夜学，是花钱买遗忘。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1908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McCarty (1980) · Carney &amp; Levin (1997) · Dresler et al. (2017) · Diekelmann &amp; Born (2010), Nature Reviews Neuroscience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71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整合 · 拿走就用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学任何东西的五步流程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103120" cy="2651760"/>
          </a:xfrm>
          <a:prstGeom prst="roundRect">
            <a:avLst>
              <a:gd name="adj" fmla="val 3043"/>
            </a:avLst>
          </a:prstGeom>
          <a:solidFill>
            <a:srgbClr val="EEF6F3"/>
          </a:solidFill>
          <a:ln/>
          <a:effectLst>
            <a:outerShdw sx="100000" sy="100000" kx="0" ky="0" algn="bl" rotWithShape="0" blurRad="88900" dist="25400" dir="3600000">
              <a:srgbClr val="0A2C25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2057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71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2651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搭地图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" y="310896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先花 10 分钟看目录、大纲、综述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542032" y="29260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8E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61488" y="1828800"/>
            <a:ext cx="2103120" cy="2651760"/>
          </a:xfrm>
          <a:prstGeom prst="roundRect">
            <a:avLst>
              <a:gd name="adj" fmla="val 3043"/>
            </a:avLst>
          </a:prstGeom>
          <a:solidFill>
            <a:srgbClr val="12715F"/>
          </a:solidFill>
          <a:ln/>
          <a:effectLst>
            <a:outerShdw sx="100000" sy="100000" kx="0" ky="0" algn="bl" rotWithShape="0" blurRad="88900" dist="25400" dir="3600000">
              <a:srgbClr val="0A2C25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62656" y="2057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962656" y="2651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学一节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962656" y="310896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DEB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读完就合书，白纸默写，再核对补漏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46320" y="29260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8E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65776" y="1828800"/>
            <a:ext cx="2103120" cy="2651760"/>
          </a:xfrm>
          <a:prstGeom prst="roundRect">
            <a:avLst>
              <a:gd name="adj" fmla="val 3043"/>
            </a:avLst>
          </a:prstGeom>
          <a:solidFill>
            <a:srgbClr val="12715F"/>
          </a:solidFill>
          <a:ln/>
          <a:effectLst>
            <a:outerShdw sx="100000" sy="100000" kx="0" ky="0" algn="bl" rotWithShape="0" blurRad="88900" dist="25400" dir="3600000">
              <a:srgbClr val="0A2C25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66944" y="2057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266944" y="2651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排间隔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266944" y="310896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DEB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 10–20% 规则复习，或直接用 Anki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150608" y="29260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8E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70064" y="1828800"/>
            <a:ext cx="2103120" cy="2651760"/>
          </a:xfrm>
          <a:prstGeom prst="roundRect">
            <a:avLst>
              <a:gd name="adj" fmla="val 3043"/>
            </a:avLst>
          </a:prstGeom>
          <a:solidFill>
            <a:srgbClr val="EEF6F3"/>
          </a:solidFill>
          <a:ln/>
          <a:effectLst>
            <a:outerShdw sx="100000" sy="100000" kx="0" ky="0" algn="bl" rotWithShape="0" blurRad="88900" dist="25400" dir="3600000">
              <a:srgbClr val="0A2C25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71232" y="2057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71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571232" y="2651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混着练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571232" y="310896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题目交错做，别一类刷到底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454896" y="29260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8E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674352" y="1828800"/>
            <a:ext cx="2103120" cy="2651760"/>
          </a:xfrm>
          <a:prstGeom prst="roundRect">
            <a:avLst>
              <a:gd name="adj" fmla="val 3043"/>
            </a:avLst>
          </a:prstGeom>
          <a:solidFill>
            <a:srgbClr val="EEF6F3"/>
          </a:solidFill>
          <a:ln/>
          <a:effectLst>
            <a:outerShdw sx="100000" sy="100000" kx="0" ky="0" algn="bl" rotWithShape="0" blurRad="88900" dist="25400" dir="3600000">
              <a:srgbClr val="0A2C25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875520" y="2057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71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875520" y="2651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讲出去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875520" y="310896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教会别人；当天睡够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0" y="4983480"/>
            <a:ext cx="12188952" cy="1005840"/>
          </a:xfrm>
          <a:prstGeom prst="rect">
            <a:avLst/>
          </a:prstGeom>
          <a:solidFill>
            <a:srgbClr val="0D3B32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98348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心法（合意困难）：</a:t>
            </a:r>
            <a:r>
              <a:rPr lang="en-US" sz="1550" dirty="0">
                <a:solidFill>
                  <a:srgbClr val="F2F7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学得越「费劲」，记得越牢；读得越「流畅」，忘得越快。你的学习体感是反的——记住这一点，就赢过大多数人。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457200" y="641908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Bjork &amp; Bjork (2011) 合意困难理论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B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3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现在，用上刚讲的方法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2F7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合上文件，先回答三个问题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54480" y="19659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2F7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最优复习间隔的规则是什么？举一个例子。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11274552" cy="0"/>
          </a:xfrm>
          <a:prstGeom prst="line">
            <a:avLst/>
          </a:prstGeom>
          <a:noFill/>
          <a:ln w="9525">
            <a:solidFill>
              <a:srgbClr val="2257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00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554480" y="320040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2F7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为什么重读和划线「感觉有效」，实测效果差？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457200" y="4160520"/>
            <a:ext cx="11274552" cy="0"/>
          </a:xfrm>
          <a:prstGeom prst="line">
            <a:avLst/>
          </a:prstGeom>
          <a:noFill/>
          <a:ln w="9525">
            <a:solidFill>
              <a:srgbClr val="2257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4348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554480" y="443484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2F7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记住一个人名字的三步是什么？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57200" y="58064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8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答不出来就翻回去找——这叫提取练习；明天再答一遍——这叫间隔重复。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最快学习的科学</dc:title>
  <dc:subject>PptxGenJS Presentation</dc:subject>
  <dc:creator>ZCode</dc:creator>
  <cp:lastModifiedBy>ZCode</cp:lastModifiedBy>
  <cp:revision>1</cp:revision>
  <dcterms:created xsi:type="dcterms:W3CDTF">2026-10-24T14:35:33Z</dcterms:created>
  <dcterms:modified xsi:type="dcterms:W3CDTF">2026-10-24T14:35:33Z</dcterms:modified>
</cp:coreProperties>
</file>